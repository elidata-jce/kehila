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mailto:alice@hm.com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course - introduce myself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9587a2b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89587a2b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be held in 3.5h if in a pinch, skip some walkthoughs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2.5h is possible, but really too little time.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46e64c5b_0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46e64c5b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really a client-server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repo has a complete version history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6e64c5b_0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46e64c5b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GUIs tries to hide what makes git special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committed to git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woth mentioning: sourcetree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84ef2b43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84ef2b4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no central repo is necessary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when in a directory with a .git repo, the git tools detect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several lines in the 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mkdir c:\course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mkdir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text file foo.txt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lines 1,2,3,4,5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new repo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 up git extensions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up username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change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84ef2b43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84ef2b4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Personally I often create version controlled folders at home, without any remote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 and fast to creat repos. Notice how many on Bitbucket already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84ef2b43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84ef2b4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84ef2b43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84ef2b4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modifications “feature 1”, “feature 2”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6e64c5b_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6e64c5b_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43-58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6e64c5b_0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6e64c5b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blob and tree has a content hash as it’s name.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tree points to the blob using the hash!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internally by git to figure out if a commit needs to be fetched from a remote or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it is very hard in a truly distributed system to have sequential version numbers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6e64c5b_0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6e64c5b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136-152, show trees in git extensions browser, show the parent pointer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+7min=30min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84ef2b43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84ef2b4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reset using commit dialog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mention: revert a merge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jump back and forth using reset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said that you cannot loose committed stuff in git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+6min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b369707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b369707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84ef2b43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84ef2b4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show ignoring in simple solution. foo.dll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by using Visual Studio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ConsoleApp_alice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ignore *.orig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(remove text auto attribute)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config --local --unset merge.tool  (since no three way merge)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(git config mergetool.prompt false)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config --local user.name “Alice”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ocnfig --local user.email </a:t>
            </a:r>
            <a:r>
              <a:rPr lang="en" u="sng">
                <a:solidFill>
                  <a:schemeClr val="hlink"/>
                </a:solidFill>
                <a:hlinkClick r:id="rId2"/>
              </a:rPr>
              <a:t>alice@hm.com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change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84ef2b43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84ef2b4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feature: math and add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master: rename Program and add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in git you do not create a new folder for a new branch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fishbone pattern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+26min. This is how far I actually got in two hours 2014-06-03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84ef2b43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84ef2b43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out that you need only files: no registry, no database, no server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two repositories Alice and Bob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pushes and pulls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clone Alice to a central repo or push -u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all using Git Extensions!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(git remote add orgin ..\ConsoleApp.git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fetch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branch -u origin/master)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clone ConsoleApp.git bob_ConsoleApp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config user.name Bob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config user.email bob@hm.com)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995065a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995065a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995065a_0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995065a_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6e64c5b_0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6e64c5b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rejection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 = fetch + merge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changes: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renaming stuf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84ef2b43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84ef2b43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branch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not normally do development on master, branch!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isolated environment, clearer history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9587a2b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9587a2b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handles reintegration merges well,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takes advantage of earlier conflict resolution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9587a2b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9587a2b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branches are in the local repository,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feature branch that they should collaborate on (multiplication/division)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colours in git extensions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alice make a bug correction in master and push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 teamcity build possibility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+15min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84ef2b43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84ef2b43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wait, you have been nagging us about how a branch is a pointer to a commit, WTF?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tag vs annotated tag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84ef2b43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84ef2b4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first one stash, pop it,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it again using a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another stash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demonstrate the stash list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84ef2b43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84ef2b43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sign Git to Manage...” slide 218-227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fewer 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show how to make a feature branch with no commits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pull with rebase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use same branch as before, just delete the remote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I just barely finished this in another 2h (total 4h with two 10min breaks), skipping briefly over tags and stash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another 30min was good for more about tags, stash and more rebase</a:t>
            </a:r>
            <a:endParaRPr b="1"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84ef2b43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84ef2b4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of the graphs in this presentation are from these 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2h52min with ten minute break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goodies: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Bitbucket/github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fork/pull request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branches on TeamCity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3h45min inclusive of goodies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3886198"/>
            <a:ext cx="9144000" cy="297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" name="Google Shape;10;p2"/>
          <p:cNvCxnSpPr/>
          <p:nvPr/>
        </p:nvCxnSpPr>
        <p:spPr>
          <a:xfrm>
            <a:off x="0" y="3886199"/>
            <a:ext cx="914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2157751"/>
            <a:ext cx="7772400" cy="165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5800" y="3953037"/>
            <a:ext cx="7772400" cy="12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1"/>
            <a:ext cx="9144000" cy="150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0" y="1503572"/>
            <a:ext cx="914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1"/>
            <a:ext cx="9144000" cy="150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" name="Google Shape;20;p4"/>
          <p:cNvCxnSpPr/>
          <p:nvPr/>
        </p:nvCxnSpPr>
        <p:spPr>
          <a:xfrm>
            <a:off x="0" y="1503572"/>
            <a:ext cx="914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1"/>
            <a:ext cx="9144000" cy="150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" name="Google Shape;26;p5"/>
          <p:cNvCxnSpPr/>
          <p:nvPr/>
        </p:nvCxnSpPr>
        <p:spPr>
          <a:xfrm>
            <a:off x="0" y="1503572"/>
            <a:ext cx="914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0" y="5633442"/>
            <a:ext cx="9144000" cy="122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6"/>
          <p:cNvCxnSpPr/>
          <p:nvPr/>
        </p:nvCxnSpPr>
        <p:spPr>
          <a:xfrm>
            <a:off x="0" y="5633442"/>
            <a:ext cx="914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khaki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1"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Trebuchet MS"/>
              <a:buChar char="●"/>
              <a:defRPr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Char char="○"/>
              <a:defRPr sz="2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Char char="■"/>
              <a:defRPr sz="2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●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○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■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●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○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■"/>
              <a:def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gitref.org/" TargetMode="External"/><Relationship Id="rId4" Type="http://schemas.openxmlformats.org/officeDocument/2006/relationships/hyperlink" Target="http://git-scm.com/book" TargetMode="External"/><Relationship Id="rId5" Type="http://schemas.openxmlformats.org/officeDocument/2006/relationships/hyperlink" Target="https://www.youtube.com/watch?v=ZDR433b0HJY" TargetMode="External"/><Relationship Id="rId6" Type="http://schemas.openxmlformats.org/officeDocument/2006/relationships/hyperlink" Target="http://www.youtube.com/watch?v=ig5E8CcdM9g" TargetMode="External"/><Relationship Id="rId7" Type="http://schemas.openxmlformats.org/officeDocument/2006/relationships/hyperlink" Target="http://youtu.be/u6G3fbmpWr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685800" y="2157751"/>
            <a:ext cx="7772400" cy="165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for beginners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685800" y="3953037"/>
            <a:ext cx="7772400" cy="12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Klas Mellbourn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klas@mellbourn.net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github.com/mellbourn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stackoverflow.com/users/46194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Curriculum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total time about 3h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overview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basics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undoing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ignoring stuff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Visual Studio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branches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remotes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remote branches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Git?</a:t>
            </a:r>
            <a:endParaRPr/>
          </a:p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i="1" lang="en"/>
              <a:t>Distributed</a:t>
            </a:r>
            <a:r>
              <a:rPr lang="en"/>
              <a:t> Version Control System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each repository independent and has complete version history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communication at well defined points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most commands local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commit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branch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merge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history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fast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offline is the normal case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each clone is a backup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Clients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Open source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many clients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git command line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with powershell module: posh-git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Git Extensions (stand alone gui client)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TortoiseGit (stand alone gui client, shell integration)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SourceTree (cross platform gui client)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Visual Studio Microsoft Git source control Provider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built in to all versions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VS2015 even has method level git history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create a file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create a repository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set username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commit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show history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change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show history</a:t>
            </a:r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Absolute basics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 that we have no server (yet)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can always quickly create a git repository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Staging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800" y="1839850"/>
            <a:ext cx="47625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changes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add files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stage one, commit it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stage another, commit it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change file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partially stage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commit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view history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note that you can see the file tree in each commit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Delta storage vs Directed Acyclic Graph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deltas,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Snapshots!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500" y="1547950"/>
            <a:ext cx="5341620" cy="496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addressable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75" y="1646225"/>
            <a:ext cx="6400800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25" y="1636625"/>
            <a:ext cx="4859374" cy="48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Undoing things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resetting working directory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reverting commits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reset - move branch to a commit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hard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soft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amending commits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amend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1239400" y="5532825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1239400" y="4449000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3174200" y="5532825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3820175" y="4693700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3174200" y="4335325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120;p20"/>
          <p:cNvCxnSpPr>
            <a:stCxn id="116" idx="4"/>
            <a:endCxn id="115" idx="0"/>
          </p:cNvCxnSpPr>
          <p:nvPr/>
        </p:nvCxnSpPr>
        <p:spPr>
          <a:xfrm>
            <a:off x="1329550" y="4651800"/>
            <a:ext cx="0" cy="8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0"/>
          <p:cNvSpPr txBox="1"/>
          <p:nvPr/>
        </p:nvSpPr>
        <p:spPr>
          <a:xfrm>
            <a:off x="1434700" y="4266525"/>
            <a:ext cx="2178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3410225" y="4116300"/>
            <a:ext cx="3381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A’</a:t>
            </a:r>
            <a:endParaRPr/>
          </a:p>
        </p:txBody>
      </p:sp>
      <p:cxnSp>
        <p:nvCxnSpPr>
          <p:cNvPr id="123" name="Google Shape;123;p20"/>
          <p:cNvCxnSpPr>
            <a:stCxn id="119" idx="4"/>
            <a:endCxn id="117" idx="0"/>
          </p:cNvCxnSpPr>
          <p:nvPr/>
        </p:nvCxnSpPr>
        <p:spPr>
          <a:xfrm>
            <a:off x="3264350" y="4538125"/>
            <a:ext cx="0" cy="99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20"/>
          <p:cNvSpPr txBox="1"/>
          <p:nvPr/>
        </p:nvSpPr>
        <p:spPr>
          <a:xfrm>
            <a:off x="4146350" y="4619575"/>
            <a:ext cx="2628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cxnSp>
        <p:nvCxnSpPr>
          <p:cNvPr id="125" name="Google Shape;125;p20"/>
          <p:cNvCxnSpPr>
            <a:stCxn id="118" idx="3"/>
            <a:endCxn id="117" idx="7"/>
          </p:cNvCxnSpPr>
          <p:nvPr/>
        </p:nvCxnSpPr>
        <p:spPr>
          <a:xfrm flipH="1">
            <a:off x="3328179" y="4866801"/>
            <a:ext cx="518400" cy="69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0"/>
          <p:cNvSpPr txBox="1"/>
          <p:nvPr/>
        </p:nvSpPr>
        <p:spPr>
          <a:xfrm>
            <a:off x="854500" y="3673125"/>
            <a:ext cx="878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</a:t>
            </a:r>
            <a:endParaRPr/>
          </a:p>
        </p:txBody>
      </p:sp>
      <p:cxnSp>
        <p:nvCxnSpPr>
          <p:cNvPr id="127" name="Google Shape;127;p20"/>
          <p:cNvCxnSpPr/>
          <p:nvPr/>
        </p:nvCxnSpPr>
        <p:spPr>
          <a:xfrm>
            <a:off x="1280650" y="4018500"/>
            <a:ext cx="26400" cy="30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20"/>
          <p:cNvSpPr txBox="1"/>
          <p:nvPr/>
        </p:nvSpPr>
        <p:spPr>
          <a:xfrm>
            <a:off x="2757100" y="3620550"/>
            <a:ext cx="878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</a:t>
            </a:r>
            <a:endParaRPr/>
          </a:p>
        </p:txBody>
      </p:sp>
      <p:cxnSp>
        <p:nvCxnSpPr>
          <p:cNvPr id="129" name="Google Shape;129;p20"/>
          <p:cNvCxnSpPr/>
          <p:nvPr/>
        </p:nvCxnSpPr>
        <p:spPr>
          <a:xfrm>
            <a:off x="3183250" y="3965925"/>
            <a:ext cx="26400" cy="30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20"/>
          <p:cNvSpPr/>
          <p:nvPr/>
        </p:nvSpPr>
        <p:spPr>
          <a:xfrm>
            <a:off x="6127225" y="5700200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6773200" y="4861075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6127225" y="4502700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6363250" y="4283675"/>
            <a:ext cx="3381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A’</a:t>
            </a:r>
            <a:endParaRPr/>
          </a:p>
        </p:txBody>
      </p:sp>
      <p:cxnSp>
        <p:nvCxnSpPr>
          <p:cNvPr id="134" name="Google Shape;134;p20"/>
          <p:cNvCxnSpPr>
            <a:stCxn id="132" idx="4"/>
            <a:endCxn id="130" idx="0"/>
          </p:cNvCxnSpPr>
          <p:nvPr/>
        </p:nvCxnSpPr>
        <p:spPr>
          <a:xfrm>
            <a:off x="6217375" y="4705500"/>
            <a:ext cx="0" cy="99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0"/>
          <p:cNvSpPr txBox="1"/>
          <p:nvPr/>
        </p:nvSpPr>
        <p:spPr>
          <a:xfrm>
            <a:off x="7099375" y="4786950"/>
            <a:ext cx="2628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cxnSp>
        <p:nvCxnSpPr>
          <p:cNvPr id="136" name="Google Shape;136;p20"/>
          <p:cNvCxnSpPr>
            <a:stCxn id="131" idx="3"/>
            <a:endCxn id="130" idx="7"/>
          </p:cNvCxnSpPr>
          <p:nvPr/>
        </p:nvCxnSpPr>
        <p:spPr>
          <a:xfrm flipH="1">
            <a:off x="6281204" y="5034176"/>
            <a:ext cx="518400" cy="69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20"/>
          <p:cNvSpPr txBox="1"/>
          <p:nvPr/>
        </p:nvSpPr>
        <p:spPr>
          <a:xfrm>
            <a:off x="6424000" y="4113725"/>
            <a:ext cx="878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</a:t>
            </a:r>
            <a:endParaRPr/>
          </a:p>
        </p:txBody>
      </p:sp>
      <p:cxnSp>
        <p:nvCxnSpPr>
          <p:cNvPr id="138" name="Google Shape;138;p20"/>
          <p:cNvCxnSpPr/>
          <p:nvPr/>
        </p:nvCxnSpPr>
        <p:spPr>
          <a:xfrm>
            <a:off x="6850150" y="4459100"/>
            <a:ext cx="26400" cy="30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/>
          <p:nvPr/>
        </p:nvSpPr>
        <p:spPr>
          <a:xfrm>
            <a:off x="7140625" y="3763125"/>
            <a:ext cx="180300" cy="202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>
            <a:stCxn id="139" idx="4"/>
            <a:endCxn id="131" idx="7"/>
          </p:cNvCxnSpPr>
          <p:nvPr/>
        </p:nvCxnSpPr>
        <p:spPr>
          <a:xfrm flipH="1">
            <a:off x="6927175" y="3965925"/>
            <a:ext cx="303600" cy="92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0"/>
          <p:cNvSpPr txBox="1"/>
          <p:nvPr/>
        </p:nvSpPr>
        <p:spPr>
          <a:xfrm>
            <a:off x="6061775" y="3034650"/>
            <a:ext cx="15699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someone else: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2681600" y="3042150"/>
            <a:ext cx="11385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Amend A: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.gitignore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Some files you don’t want to version control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Put them in .gitignore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Demo: Visual Studio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note that the tree of the commit does not contain all files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git you branch a lot!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branch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checkout (switch branch)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merge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reintegration merge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conflict resolution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Remotes</a:t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git clone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remotes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remote branches vs local branches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push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pull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Clone</a:t>
            </a:r>
            <a:endParaRPr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595125" y="5781750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1470150" y="5781750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69" name="Google Shape;169;p24"/>
          <p:cNvCxnSpPr>
            <a:stCxn id="168" idx="1"/>
            <a:endCxn id="167" idx="3"/>
          </p:cNvCxnSpPr>
          <p:nvPr/>
        </p:nvCxnSpPr>
        <p:spPr>
          <a:xfrm rot="10800000">
            <a:off x="991650" y="5887950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4"/>
          <p:cNvSpPr txBox="1"/>
          <p:nvPr/>
        </p:nvSpPr>
        <p:spPr>
          <a:xfrm>
            <a:off x="510100" y="4846575"/>
            <a:ext cx="857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2444225" y="1559275"/>
            <a:ext cx="2720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repo - “origin”remote</a:t>
            </a:r>
            <a:endParaRPr/>
          </a:p>
        </p:txBody>
      </p:sp>
      <p:cxnSp>
        <p:nvCxnSpPr>
          <p:cNvPr id="172" name="Google Shape;172;p24"/>
          <p:cNvCxnSpPr/>
          <p:nvPr/>
        </p:nvCxnSpPr>
        <p:spPr>
          <a:xfrm flipH="1" rot="10800000">
            <a:off x="1650750" y="3384575"/>
            <a:ext cx="777900" cy="187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24"/>
          <p:cNvSpPr/>
          <p:nvPr/>
        </p:nvSpPr>
        <p:spPr>
          <a:xfrm>
            <a:off x="2490375" y="259017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74" name="Google Shape;174;p24"/>
          <p:cNvSpPr/>
          <p:nvPr/>
        </p:nvSpPr>
        <p:spPr>
          <a:xfrm>
            <a:off x="3365400" y="259017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75" name="Google Shape;175;p24"/>
          <p:cNvCxnSpPr>
            <a:stCxn id="174" idx="1"/>
            <a:endCxn id="173" idx="3"/>
          </p:cNvCxnSpPr>
          <p:nvPr/>
        </p:nvCxnSpPr>
        <p:spPr>
          <a:xfrm rot="10800000">
            <a:off x="2886900" y="2696375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4"/>
          <p:cNvSpPr txBox="1"/>
          <p:nvPr/>
        </p:nvSpPr>
        <p:spPr>
          <a:xfrm>
            <a:off x="1757225" y="5362100"/>
            <a:ext cx="793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177" name="Google Shape;177;p24"/>
          <p:cNvSpPr txBox="1"/>
          <p:nvPr/>
        </p:nvSpPr>
        <p:spPr>
          <a:xfrm>
            <a:off x="3336875" y="2150988"/>
            <a:ext cx="793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178" name="Google Shape;178;p24"/>
          <p:cNvSpPr txBox="1"/>
          <p:nvPr/>
        </p:nvSpPr>
        <p:spPr>
          <a:xfrm>
            <a:off x="1470150" y="6100350"/>
            <a:ext cx="1239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origin/master</a:t>
            </a:r>
            <a:endParaRPr sz="1000"/>
          </a:p>
        </p:txBody>
      </p:sp>
      <p:sp>
        <p:nvSpPr>
          <p:cNvPr id="179" name="Google Shape;179;p24"/>
          <p:cNvSpPr txBox="1"/>
          <p:nvPr/>
        </p:nvSpPr>
        <p:spPr>
          <a:xfrm>
            <a:off x="7155550" y="4846575"/>
            <a:ext cx="1176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1331925" y="4187700"/>
            <a:ext cx="765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</a:t>
            </a:r>
            <a:endParaRPr/>
          </a:p>
        </p:txBody>
      </p:sp>
      <p:cxnSp>
        <p:nvCxnSpPr>
          <p:cNvPr id="181" name="Google Shape;181;p24"/>
          <p:cNvCxnSpPr/>
          <p:nvPr/>
        </p:nvCxnSpPr>
        <p:spPr>
          <a:xfrm>
            <a:off x="3917850" y="3365875"/>
            <a:ext cx="2167200" cy="190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4"/>
          <p:cNvSpPr/>
          <p:nvPr/>
        </p:nvSpPr>
        <p:spPr>
          <a:xfrm>
            <a:off x="5919375" y="598372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6794400" y="598372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84" name="Google Shape;184;p24"/>
          <p:cNvCxnSpPr>
            <a:stCxn id="183" idx="1"/>
            <a:endCxn id="182" idx="3"/>
          </p:cNvCxnSpPr>
          <p:nvPr/>
        </p:nvCxnSpPr>
        <p:spPr>
          <a:xfrm rot="10800000">
            <a:off x="6315900" y="6089925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4"/>
          <p:cNvSpPr txBox="1"/>
          <p:nvPr/>
        </p:nvSpPr>
        <p:spPr>
          <a:xfrm>
            <a:off x="7112900" y="5698388"/>
            <a:ext cx="793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186" name="Google Shape;186;p24"/>
          <p:cNvSpPr txBox="1"/>
          <p:nvPr/>
        </p:nvSpPr>
        <p:spPr>
          <a:xfrm>
            <a:off x="3992300" y="3957525"/>
            <a:ext cx="765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Clone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6794400" y="6323775"/>
            <a:ext cx="1239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origin/master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push/pull - the simple case</a:t>
            </a:r>
            <a:endParaRPr/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518925" y="6010350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1393950" y="6010350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96" name="Google Shape;196;p25"/>
          <p:cNvCxnSpPr>
            <a:stCxn id="195" idx="1"/>
            <a:endCxn id="194" idx="3"/>
          </p:cNvCxnSpPr>
          <p:nvPr/>
        </p:nvCxnSpPr>
        <p:spPr>
          <a:xfrm rot="10800000">
            <a:off x="915450" y="6116550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5"/>
          <p:cNvSpPr txBox="1"/>
          <p:nvPr/>
        </p:nvSpPr>
        <p:spPr>
          <a:xfrm>
            <a:off x="433900" y="5075175"/>
            <a:ext cx="857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2368025" y="1787875"/>
            <a:ext cx="27204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repo - “origin”remote</a:t>
            </a:r>
            <a:endParaRPr/>
          </a:p>
        </p:txBody>
      </p:sp>
      <p:cxnSp>
        <p:nvCxnSpPr>
          <p:cNvPr id="199" name="Google Shape;199;p25"/>
          <p:cNvCxnSpPr/>
          <p:nvPr/>
        </p:nvCxnSpPr>
        <p:spPr>
          <a:xfrm flipH="1" rot="10800000">
            <a:off x="1574550" y="4026575"/>
            <a:ext cx="595200" cy="145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5"/>
          <p:cNvSpPr/>
          <p:nvPr/>
        </p:nvSpPr>
        <p:spPr>
          <a:xfrm>
            <a:off x="2414175" y="281877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3289200" y="281877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02" name="Google Shape;202;p25"/>
          <p:cNvCxnSpPr>
            <a:stCxn id="201" idx="1"/>
            <a:endCxn id="200" idx="3"/>
          </p:cNvCxnSpPr>
          <p:nvPr/>
        </p:nvCxnSpPr>
        <p:spPr>
          <a:xfrm rot="10800000">
            <a:off x="2810700" y="2924975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5"/>
          <p:cNvSpPr txBox="1"/>
          <p:nvPr/>
        </p:nvSpPr>
        <p:spPr>
          <a:xfrm>
            <a:off x="2269050" y="5539288"/>
            <a:ext cx="793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204" name="Google Shape;204;p25"/>
          <p:cNvSpPr txBox="1"/>
          <p:nvPr/>
        </p:nvSpPr>
        <p:spPr>
          <a:xfrm>
            <a:off x="4160450" y="2337063"/>
            <a:ext cx="793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205" name="Google Shape;205;p25"/>
          <p:cNvSpPr txBox="1"/>
          <p:nvPr/>
        </p:nvSpPr>
        <p:spPr>
          <a:xfrm>
            <a:off x="2109450" y="6318525"/>
            <a:ext cx="1239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origin/master</a:t>
            </a:r>
            <a:endParaRPr sz="1000"/>
          </a:p>
        </p:txBody>
      </p:sp>
      <p:sp>
        <p:nvSpPr>
          <p:cNvPr id="206" name="Google Shape;206;p25"/>
          <p:cNvSpPr txBox="1"/>
          <p:nvPr/>
        </p:nvSpPr>
        <p:spPr>
          <a:xfrm>
            <a:off x="7079350" y="5075175"/>
            <a:ext cx="1176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1255725" y="4416300"/>
            <a:ext cx="765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</a:t>
            </a:r>
            <a:endParaRPr/>
          </a:p>
        </p:txBody>
      </p:sp>
      <p:cxnSp>
        <p:nvCxnSpPr>
          <p:cNvPr id="208" name="Google Shape;208;p25"/>
          <p:cNvCxnSpPr/>
          <p:nvPr/>
        </p:nvCxnSpPr>
        <p:spPr>
          <a:xfrm>
            <a:off x="3841650" y="3594475"/>
            <a:ext cx="1707600" cy="132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5"/>
          <p:cNvSpPr txBox="1"/>
          <p:nvPr/>
        </p:nvSpPr>
        <p:spPr>
          <a:xfrm>
            <a:off x="4160450" y="4062050"/>
            <a:ext cx="5952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</a:t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5843175" y="621232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6718200" y="621232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12" name="Google Shape;212;p25"/>
          <p:cNvCxnSpPr>
            <a:stCxn id="211" idx="1"/>
            <a:endCxn id="210" idx="3"/>
          </p:cNvCxnSpPr>
          <p:nvPr/>
        </p:nvCxnSpPr>
        <p:spPr>
          <a:xfrm rot="10800000">
            <a:off x="6239700" y="6318525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5"/>
          <p:cNvSpPr txBox="1"/>
          <p:nvPr/>
        </p:nvSpPr>
        <p:spPr>
          <a:xfrm>
            <a:off x="8056900" y="5900613"/>
            <a:ext cx="793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214" name="Google Shape;214;p25"/>
          <p:cNvSpPr txBox="1"/>
          <p:nvPr/>
        </p:nvSpPr>
        <p:spPr>
          <a:xfrm>
            <a:off x="7461850" y="6524050"/>
            <a:ext cx="1239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origin/master</a:t>
            </a:r>
            <a:endParaRPr sz="1000"/>
          </a:p>
        </p:txBody>
      </p:sp>
      <p:sp>
        <p:nvSpPr>
          <p:cNvPr id="215" name="Google Shape;215;p25"/>
          <p:cNvSpPr/>
          <p:nvPr/>
        </p:nvSpPr>
        <p:spPr>
          <a:xfrm>
            <a:off x="2269050" y="6010350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216" name="Google Shape;216;p25"/>
          <p:cNvCxnSpPr>
            <a:stCxn id="215" idx="1"/>
          </p:cNvCxnSpPr>
          <p:nvPr/>
        </p:nvCxnSpPr>
        <p:spPr>
          <a:xfrm rot="10800000">
            <a:off x="1790550" y="6116550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5"/>
          <p:cNvSpPr/>
          <p:nvPr/>
        </p:nvSpPr>
        <p:spPr>
          <a:xfrm>
            <a:off x="4164300" y="2818775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218" name="Google Shape;218;p25"/>
          <p:cNvCxnSpPr>
            <a:stCxn id="217" idx="1"/>
          </p:cNvCxnSpPr>
          <p:nvPr/>
        </p:nvCxnSpPr>
        <p:spPr>
          <a:xfrm rot="10800000">
            <a:off x="3685800" y="2924975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5"/>
          <p:cNvSpPr/>
          <p:nvPr/>
        </p:nvSpPr>
        <p:spPr>
          <a:xfrm>
            <a:off x="7593300" y="6222750"/>
            <a:ext cx="396600" cy="212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220" name="Google Shape;220;p25"/>
          <p:cNvCxnSpPr>
            <a:stCxn id="219" idx="1"/>
          </p:cNvCxnSpPr>
          <p:nvPr/>
        </p:nvCxnSpPr>
        <p:spPr>
          <a:xfrm rot="10800000">
            <a:off x="7114800" y="6328950"/>
            <a:ext cx="47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Push/pull with merging</a:t>
            </a:r>
            <a:endParaRPr/>
          </a:p>
        </p:txBody>
      </p:sp>
      <p:sp>
        <p:nvSpPr>
          <p:cNvPr id="226" name="Google Shape;226;p26"/>
          <p:cNvSpPr txBox="1"/>
          <p:nvPr>
            <p:ph idx="1" type="body"/>
          </p:nvPr>
        </p:nvSpPr>
        <p:spPr>
          <a:xfrm>
            <a:off x="457200" y="1551275"/>
            <a:ext cx="8584500" cy="51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590954" y="4855306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1423057" y="4855306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29" name="Google Shape;229;p26"/>
          <p:cNvCxnSpPr>
            <a:stCxn id="228" idx="1"/>
            <a:endCxn id="227" idx="3"/>
          </p:cNvCxnSpPr>
          <p:nvPr/>
        </p:nvCxnSpPr>
        <p:spPr>
          <a:xfrm rot="10800000">
            <a:off x="967957" y="4938406"/>
            <a:ext cx="455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26"/>
          <p:cNvSpPr txBox="1"/>
          <p:nvPr/>
        </p:nvSpPr>
        <p:spPr>
          <a:xfrm>
            <a:off x="510100" y="4123544"/>
            <a:ext cx="8154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2349351" y="1551275"/>
            <a:ext cx="2586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repo - “origin”remote</a:t>
            </a:r>
            <a:endParaRPr/>
          </a:p>
        </p:txBody>
      </p:sp>
      <p:cxnSp>
        <p:nvCxnSpPr>
          <p:cNvPr id="232" name="Google Shape;232;p26"/>
          <p:cNvCxnSpPr/>
          <p:nvPr/>
        </p:nvCxnSpPr>
        <p:spPr>
          <a:xfrm flipH="1" rot="10800000">
            <a:off x="1594798" y="3302968"/>
            <a:ext cx="566100" cy="114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26"/>
          <p:cNvSpPr/>
          <p:nvPr/>
        </p:nvSpPr>
        <p:spPr>
          <a:xfrm>
            <a:off x="2393238" y="2357941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3225340" y="2357941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35" name="Google Shape;235;p26"/>
          <p:cNvCxnSpPr>
            <a:stCxn id="234" idx="1"/>
            <a:endCxn id="233" idx="3"/>
          </p:cNvCxnSpPr>
          <p:nvPr/>
        </p:nvCxnSpPr>
        <p:spPr>
          <a:xfrm rot="10800000">
            <a:off x="2770240" y="2441041"/>
            <a:ext cx="455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6"/>
          <p:cNvSpPr txBox="1"/>
          <p:nvPr/>
        </p:nvSpPr>
        <p:spPr>
          <a:xfrm>
            <a:off x="2066531" y="4518631"/>
            <a:ext cx="754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237" name="Google Shape;237;p26"/>
          <p:cNvSpPr txBox="1"/>
          <p:nvPr/>
        </p:nvSpPr>
        <p:spPr>
          <a:xfrm>
            <a:off x="4053854" y="1981007"/>
            <a:ext cx="754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238" name="Google Shape;238;p26"/>
          <p:cNvSpPr txBox="1"/>
          <p:nvPr/>
        </p:nvSpPr>
        <p:spPr>
          <a:xfrm>
            <a:off x="1854285" y="5095074"/>
            <a:ext cx="1179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origin/master</a:t>
            </a:r>
            <a:endParaRPr sz="1000"/>
          </a:p>
        </p:txBody>
      </p:sp>
      <p:sp>
        <p:nvSpPr>
          <p:cNvPr id="239" name="Google Shape;239;p26"/>
          <p:cNvSpPr txBox="1"/>
          <p:nvPr/>
        </p:nvSpPr>
        <p:spPr>
          <a:xfrm>
            <a:off x="6829574" y="4123544"/>
            <a:ext cx="11184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1291613" y="3607983"/>
            <a:ext cx="727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</a:t>
            </a:r>
            <a:endParaRPr/>
          </a:p>
        </p:txBody>
      </p:sp>
      <p:cxnSp>
        <p:nvCxnSpPr>
          <p:cNvPr id="241" name="Google Shape;241;p26"/>
          <p:cNvCxnSpPr/>
          <p:nvPr/>
        </p:nvCxnSpPr>
        <p:spPr>
          <a:xfrm>
            <a:off x="3750691" y="2964916"/>
            <a:ext cx="1623900" cy="103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26"/>
          <p:cNvSpPr txBox="1"/>
          <p:nvPr/>
        </p:nvSpPr>
        <p:spPr>
          <a:xfrm>
            <a:off x="4053854" y="3330787"/>
            <a:ext cx="566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</a:t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5654037" y="5013349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44" name="Google Shape;244;p26"/>
          <p:cNvSpPr/>
          <p:nvPr/>
        </p:nvSpPr>
        <p:spPr>
          <a:xfrm>
            <a:off x="6486139" y="5013349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45" name="Google Shape;245;p26"/>
          <p:cNvCxnSpPr>
            <a:stCxn id="244" idx="1"/>
            <a:endCxn id="243" idx="3"/>
          </p:cNvCxnSpPr>
          <p:nvPr/>
        </p:nvCxnSpPr>
        <p:spPr>
          <a:xfrm rot="10800000">
            <a:off x="6031039" y="5096449"/>
            <a:ext cx="455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6"/>
          <p:cNvSpPr txBox="1"/>
          <p:nvPr/>
        </p:nvSpPr>
        <p:spPr>
          <a:xfrm>
            <a:off x="7804648" y="4758388"/>
            <a:ext cx="754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master</a:t>
            </a:r>
            <a:endParaRPr sz="1000"/>
          </a:p>
        </p:txBody>
      </p:sp>
      <p:sp>
        <p:nvSpPr>
          <p:cNvPr id="247" name="Google Shape;247;p26"/>
          <p:cNvSpPr txBox="1"/>
          <p:nvPr/>
        </p:nvSpPr>
        <p:spPr>
          <a:xfrm>
            <a:off x="7193312" y="5645325"/>
            <a:ext cx="1179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origin/master</a:t>
            </a:r>
            <a:endParaRPr sz="1000"/>
          </a:p>
        </p:txBody>
      </p:sp>
      <p:sp>
        <p:nvSpPr>
          <p:cNvPr id="248" name="Google Shape;248;p26"/>
          <p:cNvSpPr/>
          <p:nvPr/>
        </p:nvSpPr>
        <p:spPr>
          <a:xfrm>
            <a:off x="2255231" y="4855306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249" name="Google Shape;249;p26"/>
          <p:cNvCxnSpPr>
            <a:stCxn id="248" idx="1"/>
          </p:cNvCxnSpPr>
          <p:nvPr/>
        </p:nvCxnSpPr>
        <p:spPr>
          <a:xfrm rot="10800000">
            <a:off x="1800131" y="4938406"/>
            <a:ext cx="455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6"/>
          <p:cNvCxnSpPr/>
          <p:nvPr/>
        </p:nvCxnSpPr>
        <p:spPr>
          <a:xfrm flipH="1" rot="10800000">
            <a:off x="1931648" y="3347515"/>
            <a:ext cx="586200" cy="111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6"/>
          <p:cNvSpPr/>
          <p:nvPr/>
        </p:nvSpPr>
        <p:spPr>
          <a:xfrm>
            <a:off x="4057515" y="2357941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252" name="Google Shape;252;p26"/>
          <p:cNvCxnSpPr>
            <a:stCxn id="251" idx="1"/>
          </p:cNvCxnSpPr>
          <p:nvPr/>
        </p:nvCxnSpPr>
        <p:spPr>
          <a:xfrm rot="10800000">
            <a:off x="3602415" y="2441041"/>
            <a:ext cx="455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26"/>
          <p:cNvSpPr/>
          <p:nvPr/>
        </p:nvSpPr>
        <p:spPr>
          <a:xfrm>
            <a:off x="7318314" y="5021507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54" name="Google Shape;254;p26"/>
          <p:cNvCxnSpPr>
            <a:stCxn id="253" idx="1"/>
          </p:cNvCxnSpPr>
          <p:nvPr/>
        </p:nvCxnSpPr>
        <p:spPr>
          <a:xfrm rot="10800000">
            <a:off x="6863214" y="5104607"/>
            <a:ext cx="455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6"/>
          <p:cNvSpPr/>
          <p:nvPr/>
        </p:nvSpPr>
        <p:spPr>
          <a:xfrm>
            <a:off x="7427673" y="5415352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256" name="Google Shape;256;p26"/>
          <p:cNvCxnSpPr>
            <a:stCxn id="255" idx="1"/>
            <a:endCxn id="244" idx="2"/>
          </p:cNvCxnSpPr>
          <p:nvPr/>
        </p:nvCxnSpPr>
        <p:spPr>
          <a:xfrm rot="10800000">
            <a:off x="6674673" y="5179552"/>
            <a:ext cx="753000" cy="318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26"/>
          <p:cNvSpPr/>
          <p:nvPr/>
        </p:nvSpPr>
        <p:spPr>
          <a:xfrm>
            <a:off x="7947888" y="5021507"/>
            <a:ext cx="377100" cy="166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cxnSp>
        <p:nvCxnSpPr>
          <p:cNvPr id="258" name="Google Shape;258;p26"/>
          <p:cNvCxnSpPr>
            <a:stCxn id="257" idx="2"/>
            <a:endCxn id="255" idx="3"/>
          </p:cNvCxnSpPr>
          <p:nvPr/>
        </p:nvCxnSpPr>
        <p:spPr>
          <a:xfrm flipH="1">
            <a:off x="7804638" y="5187707"/>
            <a:ext cx="331800" cy="31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6"/>
          <p:cNvCxnSpPr>
            <a:stCxn id="257" idx="1"/>
            <a:endCxn id="253" idx="3"/>
          </p:cNvCxnSpPr>
          <p:nvPr/>
        </p:nvCxnSpPr>
        <p:spPr>
          <a:xfrm rot="10800000">
            <a:off x="7695288" y="5104607"/>
            <a:ext cx="252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branch workflow</a:t>
            </a:r>
            <a:endParaRPr/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create a feature branch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checkout feature branch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make commits until done with feature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checkout master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pull master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merge feature into master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make sure everything works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push master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your feature branch</a:t>
            </a:r>
            <a:endParaRPr/>
          </a:p>
        </p:txBody>
      </p:sp>
      <p:sp>
        <p:nvSpPr>
          <p:cNvPr id="271" name="Google Shape;271;p2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Merge from master to integrate latest changes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fishbone pattern:</a:t>
            </a:r>
            <a:endParaRPr/>
          </a:p>
        </p:txBody>
      </p:sp>
      <p:cxnSp>
        <p:nvCxnSpPr>
          <p:cNvPr id="272" name="Google Shape;272;p28"/>
          <p:cNvCxnSpPr/>
          <p:nvPr/>
        </p:nvCxnSpPr>
        <p:spPr>
          <a:xfrm rot="10800000">
            <a:off x="4298775" y="3254075"/>
            <a:ext cx="5100" cy="296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8"/>
          <p:cNvCxnSpPr/>
          <p:nvPr/>
        </p:nvCxnSpPr>
        <p:spPr>
          <a:xfrm rot="10800000">
            <a:off x="5405925" y="3745100"/>
            <a:ext cx="36600" cy="20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8"/>
          <p:cNvCxnSpPr/>
          <p:nvPr/>
        </p:nvCxnSpPr>
        <p:spPr>
          <a:xfrm flipH="1" rot="10800000">
            <a:off x="4330000" y="5782125"/>
            <a:ext cx="1122900" cy="36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8"/>
          <p:cNvCxnSpPr/>
          <p:nvPr/>
        </p:nvCxnSpPr>
        <p:spPr>
          <a:xfrm flipH="1" rot="10800000">
            <a:off x="4330000" y="5166750"/>
            <a:ext cx="108630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28"/>
          <p:cNvCxnSpPr/>
          <p:nvPr/>
        </p:nvCxnSpPr>
        <p:spPr>
          <a:xfrm flipH="1" rot="10800000">
            <a:off x="4330000" y="4347650"/>
            <a:ext cx="108630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28"/>
          <p:cNvCxnSpPr/>
          <p:nvPr/>
        </p:nvCxnSpPr>
        <p:spPr>
          <a:xfrm rot="10800000">
            <a:off x="4319675" y="3499500"/>
            <a:ext cx="1086300" cy="26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28"/>
          <p:cNvSpPr txBox="1"/>
          <p:nvPr/>
        </p:nvSpPr>
        <p:spPr>
          <a:xfrm>
            <a:off x="3499575" y="3943475"/>
            <a:ext cx="80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5452900" y="3880800"/>
            <a:ext cx="825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branches</a:t>
            </a:r>
            <a:endParaRPr/>
          </a:p>
        </p:txBody>
      </p:sp>
      <p:sp>
        <p:nvSpPr>
          <p:cNvPr id="285" name="Google Shape;285;p2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You can push and pull other branches than master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This way you can share work on a feature branch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Branches that are local on the remote are reproduced as “remote branches” in your repository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Remote branches cannot themselves be checked out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Local branches can </a:t>
            </a:r>
            <a:r>
              <a:rPr i="1" lang="en"/>
              <a:t>track</a:t>
            </a:r>
            <a:r>
              <a:rPr lang="en"/>
              <a:t> remote branches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Tags</a:t>
            </a:r>
            <a:endParaRPr/>
          </a:p>
        </p:txBody>
      </p:sp>
      <p:sp>
        <p:nvSpPr>
          <p:cNvPr id="291" name="Google Shape;291;p3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label a version with a tag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pointer to a commit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if annotated it also has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comment, tagger, date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hash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does not move (like branches do)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cannot be checked out (like branches)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must be pushed specifically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stash</a:t>
            </a:r>
            <a:endParaRPr/>
          </a:p>
        </p:txBody>
      </p:sp>
      <p:sp>
        <p:nvSpPr>
          <p:cNvPr id="297" name="Google Shape;297;p3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Save changes “temporarily”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clears any changes from working tree and staging area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can be applied later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even on different commit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can popped or applied or dropped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Rebase</a:t>
            </a:r>
            <a:endParaRPr/>
          </a:p>
        </p:txBody>
      </p:sp>
      <p:sp>
        <p:nvSpPr>
          <p:cNvPr id="303" name="Google Shape;303;p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 rebase replays the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differences introduced by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commits, creating new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“copied” commits.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cleaner history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fewer commits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don’t do it with pushed</a:t>
            </a:r>
            <a:br>
              <a:rPr lang="en"/>
            </a:br>
            <a:r>
              <a:rPr lang="en"/>
              <a:t>commits</a:t>
            </a:r>
            <a:endParaRPr/>
          </a:p>
        </p:txBody>
      </p:sp>
      <p:pic>
        <p:nvPicPr>
          <p:cNvPr id="304" name="Google Shape;3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325" y="1832600"/>
            <a:ext cx="30289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310" name="Google Shape;310;p33"/>
          <p:cNvSpPr txBox="1"/>
          <p:nvPr>
            <p:ph idx="1" type="body"/>
          </p:nvPr>
        </p:nvSpPr>
        <p:spPr>
          <a:xfrm>
            <a:off x="457200" y="1596319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gitref.org</a:t>
            </a:r>
            <a:r>
              <a:rPr lang="en"/>
              <a:t> - quick walkthrough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git-scm.com/book</a:t>
            </a:r>
            <a:r>
              <a:rPr lang="en"/>
              <a:t> - compete book, especially  Chapter 2  (and preferably also chapter 3)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youtube.com/watch?v=ZDR433b0HJY</a:t>
            </a:r>
            <a:r>
              <a:rPr lang="en"/>
              <a:t> - excellent video on basics (but very command line oriented)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youtube.com/watch?v=ig5E8CcdM9g</a:t>
            </a:r>
            <a:r>
              <a:rPr lang="en"/>
              <a:t> - advanced video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How to use Git on GitHub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haki">
  <a:themeElements>
    <a:clrScheme name="Custom 349">
      <a:dk1>
        <a:srgbClr val="262626"/>
      </a:dk1>
      <a:lt1>
        <a:srgbClr val="E6D6BD"/>
      </a:lt1>
      <a:dk2>
        <a:srgbClr val="535353"/>
      </a:dk2>
      <a:lt2>
        <a:srgbClr val="B4AD9E"/>
      </a:lt2>
      <a:accent1>
        <a:srgbClr val="ADB48E"/>
      </a:accent1>
      <a:accent2>
        <a:srgbClr val="867961"/>
      </a:accent2>
      <a:accent3>
        <a:srgbClr val="CBB680"/>
      </a:accent3>
      <a:accent4>
        <a:srgbClr val="78A3C0"/>
      </a:accent4>
      <a:accent5>
        <a:srgbClr val="C0AE91"/>
      </a:accent5>
      <a:accent6>
        <a:srgbClr val="668874"/>
      </a:accent6>
      <a:hlink>
        <a:srgbClr val="4B94B3"/>
      </a:hlink>
      <a:folHlink>
        <a:srgbClr val="41414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